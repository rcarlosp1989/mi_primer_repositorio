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57" r:id="rId4"/>
    <p:sldId id="261" r:id="rId5"/>
    <p:sldId id="259" r:id="rId6"/>
    <p:sldId id="260"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65" autoAdjust="0"/>
    <p:restoredTop sz="94291" autoAdjust="0"/>
  </p:normalViewPr>
  <p:slideViewPr>
    <p:cSldViewPr snapToGrid="0">
      <p:cViewPr varScale="1">
        <p:scale>
          <a:sx n="72" d="100"/>
          <a:sy n="72" d="100"/>
        </p:scale>
        <p:origin x="79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A99D61EB-1119-4DBF-AC12-7BA1496E71B4}" type="datetimeFigureOut">
              <a:rPr lang="es-EC" smtClean="0"/>
              <a:t>20/9/2025</a:t>
            </a:fld>
            <a:endParaRPr lang="es-EC"/>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s-EC"/>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3940279-2C70-4B73-BCCF-230CCBDF3827}" type="slidenum">
              <a:rPr lang="es-EC" smtClean="0"/>
              <a:t>‹Nº›</a:t>
            </a:fld>
            <a:endParaRPr lang="es-EC"/>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2397245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9D61EB-1119-4DBF-AC12-7BA1496E71B4}" type="datetimeFigureOut">
              <a:rPr lang="es-EC" smtClean="0"/>
              <a:t>20/9/2025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2469053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99D61EB-1119-4DBF-AC12-7BA1496E71B4}" type="datetimeFigureOut">
              <a:rPr lang="es-EC" smtClean="0"/>
              <a:t>20/9/2025</a:t>
            </a:fld>
            <a:endParaRPr lang="es-EC"/>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s-EC"/>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3940279-2C70-4B73-BCCF-230CCBDF3827}" type="slidenum">
              <a:rPr lang="es-EC" smtClean="0"/>
              <a:t>‹Nº›</a:t>
            </a:fld>
            <a:endParaRPr lang="es-EC"/>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68868150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99D61EB-1119-4DBF-AC12-7BA1496E71B4}" type="datetimeFigureOut">
              <a:rPr lang="es-EC" smtClean="0"/>
              <a:t>20/9/2025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1667098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99D61EB-1119-4DBF-AC12-7BA1496E71B4}" type="datetimeFigureOut">
              <a:rPr lang="es-EC" smtClean="0"/>
              <a:t>20/9/2025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2812647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99D61EB-1119-4DBF-AC12-7BA1496E71B4}" type="datetimeFigureOut">
              <a:rPr lang="es-EC" smtClean="0"/>
              <a:t>20/9/2025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4076538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9D61EB-1119-4DBF-AC12-7BA1496E71B4}" type="datetimeFigureOut">
              <a:rPr lang="es-EC" smtClean="0"/>
              <a:t>20/9/2025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374092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99D61EB-1119-4DBF-AC12-7BA1496E71B4}" type="datetimeFigureOut">
              <a:rPr lang="es-EC" smtClean="0"/>
              <a:t>20/9/2025</a:t>
            </a:fld>
            <a:endParaRPr lang="es-EC"/>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EC"/>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3940279-2C70-4B73-BCCF-230CCBDF3827}" type="slidenum">
              <a:rPr lang="es-EC" smtClean="0"/>
              <a:t>‹Nº›</a:t>
            </a:fld>
            <a:endParaRPr lang="es-EC"/>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35209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99D61EB-1119-4DBF-AC12-7BA1496E71B4}" type="datetimeFigureOut">
              <a:rPr lang="es-EC" smtClean="0"/>
              <a:t>20/9/2025</a:t>
            </a:fld>
            <a:endParaRPr lang="es-EC"/>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EC"/>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3940279-2C70-4B73-BCCF-230CCBDF3827}" type="slidenum">
              <a:rPr lang="es-EC" smtClean="0"/>
              <a:t>‹Nº›</a:t>
            </a:fld>
            <a:endParaRPr lang="es-EC"/>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71443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9D61EB-1119-4DBF-AC12-7BA1496E71B4}" type="datetimeFigureOut">
              <a:rPr lang="es-EC" smtClean="0"/>
              <a:t>20/9/2025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739894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9D61EB-1119-4DBF-AC12-7BA1496E71B4}" type="datetimeFigureOut">
              <a:rPr lang="es-EC" smtClean="0"/>
              <a:t>20/9/2025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D3940279-2C70-4B73-BCCF-230CCBDF3827}" type="slidenum">
              <a:rPr lang="es-EC" smtClean="0"/>
              <a:t>‹Nº›</a:t>
            </a:fld>
            <a:endParaRPr lang="es-EC"/>
          </a:p>
        </p:txBody>
      </p:sp>
    </p:spTree>
    <p:extLst>
      <p:ext uri="{BB962C8B-B14F-4D97-AF65-F5344CB8AC3E}">
        <p14:creationId xmlns:p14="http://schemas.microsoft.com/office/powerpoint/2010/main" val="2076707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99D61EB-1119-4DBF-AC12-7BA1496E71B4}" type="datetimeFigureOut">
              <a:rPr lang="es-EC" smtClean="0"/>
              <a:t>20/9/2025</a:t>
            </a:fld>
            <a:endParaRPr lang="es-EC"/>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s-EC"/>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3940279-2C70-4B73-BCCF-230CCBDF3827}" type="slidenum">
              <a:rPr lang="es-EC" smtClean="0"/>
              <a:t>‹Nº›</a:t>
            </a:fld>
            <a:endParaRPr lang="es-EC"/>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285588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1E38C-C380-1828-8818-4531B3320716}"/>
              </a:ext>
            </a:extLst>
          </p:cNvPr>
          <p:cNvSpPr>
            <a:spLocks noGrp="1"/>
          </p:cNvSpPr>
          <p:nvPr>
            <p:ph type="ctrTitle"/>
          </p:nvPr>
        </p:nvSpPr>
        <p:spPr>
          <a:xfrm>
            <a:off x="5085914" y="1702347"/>
            <a:ext cx="5805268" cy="2105526"/>
          </a:xfrm>
        </p:spPr>
        <p:txBody>
          <a:bodyPr>
            <a:noAutofit/>
          </a:bodyPr>
          <a:lstStyle/>
          <a:p>
            <a:r>
              <a:rPr lang="es-MX" sz="3600" dirty="0"/>
              <a:t>Grupo 3</a:t>
            </a:r>
            <a:br>
              <a:rPr lang="es-MX" sz="3600" dirty="0"/>
            </a:br>
            <a:r>
              <a:rPr lang="es-MX" sz="3600" dirty="0"/>
              <a:t>Gestión de residuos en urbanizaciones cerradas</a:t>
            </a:r>
            <a:endParaRPr lang="es-EC" sz="3600" dirty="0"/>
          </a:p>
        </p:txBody>
      </p:sp>
      <p:sp>
        <p:nvSpPr>
          <p:cNvPr id="3" name="Subtítulo 2">
            <a:extLst>
              <a:ext uri="{FF2B5EF4-FFF2-40B4-BE49-F238E27FC236}">
                <a16:creationId xmlns:a16="http://schemas.microsoft.com/office/drawing/2014/main" id="{F6BFD289-1CB9-EF53-DE1E-B67F92C1124D}"/>
              </a:ext>
            </a:extLst>
          </p:cNvPr>
          <p:cNvSpPr>
            <a:spLocks noGrp="1"/>
          </p:cNvSpPr>
          <p:nvPr>
            <p:ph type="subTitle" idx="1"/>
          </p:nvPr>
        </p:nvSpPr>
        <p:spPr>
          <a:xfrm>
            <a:off x="1524000" y="3695317"/>
            <a:ext cx="9144000" cy="2105526"/>
          </a:xfrm>
        </p:spPr>
        <p:txBody>
          <a:bodyPr>
            <a:normAutofit/>
          </a:bodyPr>
          <a:lstStyle/>
          <a:p>
            <a:pPr marL="457200" indent="-457200" algn="l">
              <a:buFont typeface="+mj-lt"/>
              <a:buAutoNum type="arabicPeriod"/>
            </a:pPr>
            <a:r>
              <a:rPr lang="es-EC" sz="2000" dirty="0"/>
              <a:t>GILER RISCO MILENA TAHILY</a:t>
            </a:r>
          </a:p>
          <a:p>
            <a:pPr marL="457200" indent="-457200" algn="l">
              <a:buFont typeface="+mj-lt"/>
              <a:buAutoNum type="arabicPeriod"/>
            </a:pPr>
            <a:r>
              <a:rPr lang="es-EC" sz="2000" dirty="0"/>
              <a:t>LONDO DUCHI STALYN ALFREDO</a:t>
            </a:r>
          </a:p>
          <a:p>
            <a:pPr marL="457200" indent="-457200" algn="l">
              <a:buFont typeface="+mj-lt"/>
              <a:buAutoNum type="arabicPeriod"/>
            </a:pPr>
            <a:r>
              <a:rPr lang="es-EC" sz="2000" dirty="0"/>
              <a:t>MACIAS URGILES ANGELICA MARIA</a:t>
            </a:r>
          </a:p>
          <a:p>
            <a:pPr marL="457200" indent="-457200" algn="l">
              <a:buFont typeface="+mj-lt"/>
              <a:buAutoNum type="arabicPeriod"/>
            </a:pPr>
            <a:r>
              <a:rPr lang="es-EC" sz="2000" dirty="0"/>
              <a:t>MENOSCAL CHIRIGUAYA DANIEL ALEJANDRO</a:t>
            </a:r>
          </a:p>
          <a:p>
            <a:pPr marL="457200" indent="-457200" algn="l">
              <a:buFont typeface="+mj-lt"/>
              <a:buAutoNum type="arabicPeriod"/>
            </a:pPr>
            <a:r>
              <a:rPr lang="es-EC" sz="2000" dirty="0"/>
              <a:t>PRADO SEGURA ROBERTO CARLOS</a:t>
            </a:r>
          </a:p>
        </p:txBody>
      </p:sp>
      <p:pic>
        <p:nvPicPr>
          <p:cNvPr id="5" name="Imagen 4">
            <a:extLst>
              <a:ext uri="{FF2B5EF4-FFF2-40B4-BE49-F238E27FC236}">
                <a16:creationId xmlns:a16="http://schemas.microsoft.com/office/drawing/2014/main" id="{D77D1EED-3B18-4D62-8FB4-3A28E42A5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818" y="1274879"/>
            <a:ext cx="3243045" cy="1403114"/>
          </a:xfrm>
          <a:prstGeom prst="rect">
            <a:avLst/>
          </a:prstGeom>
        </p:spPr>
      </p:pic>
    </p:spTree>
    <p:extLst>
      <p:ext uri="{BB962C8B-B14F-4D97-AF65-F5344CB8AC3E}">
        <p14:creationId xmlns:p14="http://schemas.microsoft.com/office/powerpoint/2010/main" val="11965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205BE9-B7A1-4434-8462-80A6B9F19BCC}"/>
              </a:ext>
            </a:extLst>
          </p:cNvPr>
          <p:cNvSpPr>
            <a:spLocks noGrp="1"/>
          </p:cNvSpPr>
          <p:nvPr>
            <p:ph type="title"/>
          </p:nvPr>
        </p:nvSpPr>
        <p:spPr>
          <a:xfrm>
            <a:off x="1371600" y="147711"/>
            <a:ext cx="9601200" cy="1485900"/>
          </a:xfrm>
        </p:spPr>
        <p:txBody>
          <a:bodyPr/>
          <a:lstStyle/>
          <a:p>
            <a:r>
              <a:rPr lang="es-MX" dirty="0"/>
              <a:t>Modelo relacional</a:t>
            </a:r>
            <a:endParaRPr lang="es-EC" dirty="0"/>
          </a:p>
        </p:txBody>
      </p:sp>
      <p:pic>
        <p:nvPicPr>
          <p:cNvPr id="4" name="Imagen 3">
            <a:extLst>
              <a:ext uri="{FF2B5EF4-FFF2-40B4-BE49-F238E27FC236}">
                <a16:creationId xmlns:a16="http://schemas.microsoft.com/office/drawing/2014/main" id="{C5426835-D870-4ACB-BE50-0B750F61AA3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4046" y="890661"/>
            <a:ext cx="10316308" cy="5697415"/>
          </a:xfrm>
          <a:prstGeom prst="rect">
            <a:avLst/>
          </a:prstGeom>
          <a:noFill/>
          <a:ln>
            <a:noFill/>
          </a:ln>
        </p:spPr>
      </p:pic>
    </p:spTree>
    <p:extLst>
      <p:ext uri="{BB962C8B-B14F-4D97-AF65-F5344CB8AC3E}">
        <p14:creationId xmlns:p14="http://schemas.microsoft.com/office/powerpoint/2010/main" val="3327030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78F81-BA90-AE26-DCD0-FC1BF84F43A3}"/>
              </a:ext>
            </a:extLst>
          </p:cNvPr>
          <p:cNvSpPr>
            <a:spLocks noGrp="1"/>
          </p:cNvSpPr>
          <p:nvPr>
            <p:ph type="title"/>
          </p:nvPr>
        </p:nvSpPr>
        <p:spPr>
          <a:xfrm>
            <a:off x="1191228" y="227904"/>
            <a:ext cx="10066122" cy="1298448"/>
          </a:xfrm>
        </p:spPr>
        <p:txBody>
          <a:bodyPr anchor="b">
            <a:normAutofit/>
          </a:bodyPr>
          <a:lstStyle/>
          <a:p>
            <a:r>
              <a:rPr lang="es-MX" sz="4800" dirty="0"/>
              <a:t>Pregunta de análisis 1</a:t>
            </a:r>
            <a:endParaRPr lang="es-EC" sz="4800" dirty="0"/>
          </a:p>
        </p:txBody>
      </p:sp>
      <p:sp>
        <p:nvSpPr>
          <p:cNvPr id="3" name="Marcador de contenido 2">
            <a:extLst>
              <a:ext uri="{FF2B5EF4-FFF2-40B4-BE49-F238E27FC236}">
                <a16:creationId xmlns:a16="http://schemas.microsoft.com/office/drawing/2014/main" id="{4A995EF4-992C-507E-2C78-28746DA85B0E}"/>
              </a:ext>
            </a:extLst>
          </p:cNvPr>
          <p:cNvSpPr>
            <a:spLocks noGrp="1"/>
          </p:cNvSpPr>
          <p:nvPr>
            <p:ph idx="1"/>
          </p:nvPr>
        </p:nvSpPr>
        <p:spPr>
          <a:xfrm>
            <a:off x="1191227" y="2440483"/>
            <a:ext cx="4530898" cy="3639450"/>
          </a:xfrm>
        </p:spPr>
        <p:txBody>
          <a:bodyPr anchor="ctr">
            <a:normAutofit/>
          </a:bodyPr>
          <a:lstStyle/>
          <a:p>
            <a:pPr marL="0" indent="0">
              <a:buNone/>
            </a:pPr>
            <a:r>
              <a:rPr lang="es-MX" sz="2000" b="1" dirty="0"/>
              <a:t>¿Qué tipo de residuo se genera con mayor frecuencia en cada ubicación?</a:t>
            </a:r>
          </a:p>
          <a:p>
            <a:pPr marL="0" indent="0">
              <a:buNone/>
            </a:pPr>
            <a:endParaRPr lang="es-EC" sz="2000" dirty="0"/>
          </a:p>
          <a:p>
            <a:pPr marL="0" indent="0">
              <a:buNone/>
            </a:pPr>
            <a:r>
              <a:rPr lang="es-MX" sz="2000" dirty="0"/>
              <a:t>Respondiendo a la primera interrogante y como se puede observar en la Ilustración, los residuos de cocina son los más generados en todas las ubicaciones analizadas, lo que evidencia la necesidad de estrategias de gestión para su reducción, separación y aprovechamiento.</a:t>
            </a:r>
            <a:endParaRPr lang="es-EC" sz="2000" dirty="0"/>
          </a:p>
        </p:txBody>
      </p:sp>
      <p:pic>
        <p:nvPicPr>
          <p:cNvPr id="5" name="Imagen 4">
            <a:extLst>
              <a:ext uri="{FF2B5EF4-FFF2-40B4-BE49-F238E27FC236}">
                <a16:creationId xmlns:a16="http://schemas.microsoft.com/office/drawing/2014/main" id="{35D8C811-FD67-72D4-EFAD-04AAFFAABB9C}"/>
              </a:ext>
            </a:extLst>
          </p:cNvPr>
          <p:cNvPicPr>
            <a:picLocks noChangeAspect="1"/>
          </p:cNvPicPr>
          <p:nvPr/>
        </p:nvPicPr>
        <p:blipFill>
          <a:blip r:embed="rId2"/>
          <a:srcRect l="978" r="-1"/>
          <a:stretch>
            <a:fillRect/>
          </a:stretch>
        </p:blipFill>
        <p:spPr>
          <a:xfrm>
            <a:off x="6359454" y="2592062"/>
            <a:ext cx="5099921" cy="3180578"/>
          </a:xfrm>
          <a:prstGeom prst="rect">
            <a:avLst/>
          </a:prstGeom>
          <a:ln>
            <a:solidFill>
              <a:schemeClr val="tx2"/>
            </a:solidFill>
          </a:ln>
        </p:spPr>
      </p:pic>
    </p:spTree>
    <p:extLst>
      <p:ext uri="{BB962C8B-B14F-4D97-AF65-F5344CB8AC3E}">
        <p14:creationId xmlns:p14="http://schemas.microsoft.com/office/powerpoint/2010/main" val="3079392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267D8C-EAE8-C971-2623-06B9028D2E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823BD9-314D-5FC5-B181-F2900E200A4B}"/>
              </a:ext>
            </a:extLst>
          </p:cNvPr>
          <p:cNvSpPr>
            <a:spLocks noGrp="1"/>
          </p:cNvSpPr>
          <p:nvPr>
            <p:ph type="title"/>
          </p:nvPr>
        </p:nvSpPr>
        <p:spPr>
          <a:xfrm>
            <a:off x="1177975" y="254408"/>
            <a:ext cx="10066122" cy="1298448"/>
          </a:xfrm>
        </p:spPr>
        <p:txBody>
          <a:bodyPr anchor="b">
            <a:normAutofit/>
          </a:bodyPr>
          <a:lstStyle/>
          <a:p>
            <a:r>
              <a:rPr lang="es-MX" sz="4800" dirty="0"/>
              <a:t>Pregunta de análisis 1(complemento)</a:t>
            </a:r>
            <a:endParaRPr lang="es-EC" sz="4800" dirty="0"/>
          </a:p>
        </p:txBody>
      </p:sp>
      <p:sp>
        <p:nvSpPr>
          <p:cNvPr id="3" name="Marcador de contenido 2">
            <a:extLst>
              <a:ext uri="{FF2B5EF4-FFF2-40B4-BE49-F238E27FC236}">
                <a16:creationId xmlns:a16="http://schemas.microsoft.com/office/drawing/2014/main" id="{CAB87459-41B8-C514-452C-42A73C59B268}"/>
              </a:ext>
            </a:extLst>
          </p:cNvPr>
          <p:cNvSpPr>
            <a:spLocks noGrp="1"/>
          </p:cNvSpPr>
          <p:nvPr>
            <p:ph idx="1"/>
          </p:nvPr>
        </p:nvSpPr>
        <p:spPr>
          <a:xfrm>
            <a:off x="1177974" y="2466987"/>
            <a:ext cx="4530898" cy="3639450"/>
          </a:xfrm>
        </p:spPr>
        <p:txBody>
          <a:bodyPr anchor="ctr">
            <a:normAutofit/>
          </a:bodyPr>
          <a:lstStyle/>
          <a:p>
            <a:pPr marL="0" indent="0">
              <a:buNone/>
            </a:pPr>
            <a:r>
              <a:rPr lang="es-MX" sz="2000" b="1" dirty="0"/>
              <a:t>¿Los residuos de cocina se están separando correctamente?</a:t>
            </a:r>
          </a:p>
          <a:p>
            <a:pPr marL="0" indent="0">
              <a:buNone/>
            </a:pPr>
            <a:endParaRPr lang="es-EC" sz="2000" dirty="0"/>
          </a:p>
          <a:p>
            <a:pPr marL="0" indent="0">
              <a:buNone/>
            </a:pPr>
            <a:r>
              <a:rPr lang="es-EC" sz="2000" dirty="0"/>
              <a:t>Sí, esto evidencia que la comunidad tiene conocimiento sobre como se clasifican los desechos orgánicos.</a:t>
            </a:r>
          </a:p>
        </p:txBody>
      </p:sp>
      <p:pic>
        <p:nvPicPr>
          <p:cNvPr id="6" name="Imagen 5">
            <a:extLst>
              <a:ext uri="{FF2B5EF4-FFF2-40B4-BE49-F238E27FC236}">
                <a16:creationId xmlns:a16="http://schemas.microsoft.com/office/drawing/2014/main" id="{9C4240BE-C8CA-6442-449F-4121E70FE80D}"/>
              </a:ext>
            </a:extLst>
          </p:cNvPr>
          <p:cNvPicPr>
            <a:picLocks noChangeAspect="1"/>
          </p:cNvPicPr>
          <p:nvPr/>
        </p:nvPicPr>
        <p:blipFill>
          <a:blip r:embed="rId2"/>
          <a:stretch>
            <a:fillRect/>
          </a:stretch>
        </p:blipFill>
        <p:spPr>
          <a:xfrm>
            <a:off x="6423375" y="3296160"/>
            <a:ext cx="4629796" cy="457264"/>
          </a:xfrm>
          <a:prstGeom prst="rect">
            <a:avLst/>
          </a:prstGeom>
          <a:ln>
            <a:solidFill>
              <a:schemeClr val="tx1"/>
            </a:solidFill>
          </a:ln>
        </p:spPr>
      </p:pic>
    </p:spTree>
    <p:extLst>
      <p:ext uri="{BB962C8B-B14F-4D97-AF65-F5344CB8AC3E}">
        <p14:creationId xmlns:p14="http://schemas.microsoft.com/office/powerpoint/2010/main" val="3645208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380C75-44A2-287A-2AEE-FC29AEAAD4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5AF9D5-C0C6-9EEB-A40F-CDCE0B7F1B2E}"/>
              </a:ext>
            </a:extLst>
          </p:cNvPr>
          <p:cNvSpPr>
            <a:spLocks noGrp="1"/>
          </p:cNvSpPr>
          <p:nvPr>
            <p:ph type="title"/>
          </p:nvPr>
        </p:nvSpPr>
        <p:spPr>
          <a:xfrm>
            <a:off x="1565103" y="214652"/>
            <a:ext cx="10066122" cy="1298448"/>
          </a:xfrm>
        </p:spPr>
        <p:txBody>
          <a:bodyPr anchor="b">
            <a:normAutofit/>
          </a:bodyPr>
          <a:lstStyle/>
          <a:p>
            <a:r>
              <a:rPr lang="es-MX" sz="4800" dirty="0"/>
              <a:t>Pregunta de análisis 2</a:t>
            </a:r>
            <a:endParaRPr lang="es-EC" sz="4800" dirty="0"/>
          </a:p>
        </p:txBody>
      </p:sp>
      <p:sp>
        <p:nvSpPr>
          <p:cNvPr id="3" name="Marcador de contenido 2">
            <a:extLst>
              <a:ext uri="{FF2B5EF4-FFF2-40B4-BE49-F238E27FC236}">
                <a16:creationId xmlns:a16="http://schemas.microsoft.com/office/drawing/2014/main" id="{F96F82EC-C642-8C3E-B220-E62AB9164C21}"/>
              </a:ext>
            </a:extLst>
          </p:cNvPr>
          <p:cNvSpPr>
            <a:spLocks noGrp="1"/>
          </p:cNvSpPr>
          <p:nvPr>
            <p:ph idx="1"/>
          </p:nvPr>
        </p:nvSpPr>
        <p:spPr>
          <a:xfrm>
            <a:off x="1565102" y="2427231"/>
            <a:ext cx="4530898" cy="3639450"/>
          </a:xfrm>
        </p:spPr>
        <p:txBody>
          <a:bodyPr anchor="ctr">
            <a:normAutofit/>
          </a:bodyPr>
          <a:lstStyle/>
          <a:p>
            <a:pPr marL="0" indent="0">
              <a:buNone/>
            </a:pPr>
            <a:r>
              <a:rPr lang="es-MX" sz="2000" b="1" dirty="0"/>
              <a:t>¿Qué días de la semana tienen mayor volumen de recolección? </a:t>
            </a:r>
            <a:endParaRPr lang="es-EC" sz="2000" dirty="0"/>
          </a:p>
          <a:p>
            <a:pPr marL="0" indent="0">
              <a:buNone/>
            </a:pPr>
            <a:r>
              <a:rPr lang="es-EC" sz="2000" dirty="0"/>
              <a:t>Martes y Viernes</a:t>
            </a:r>
          </a:p>
        </p:txBody>
      </p:sp>
      <p:pic>
        <p:nvPicPr>
          <p:cNvPr id="6" name="Imagen 5">
            <a:extLst>
              <a:ext uri="{FF2B5EF4-FFF2-40B4-BE49-F238E27FC236}">
                <a16:creationId xmlns:a16="http://schemas.microsoft.com/office/drawing/2014/main" id="{C010DBD9-9A15-6A42-4C15-AEC597222F73}"/>
              </a:ext>
            </a:extLst>
          </p:cNvPr>
          <p:cNvPicPr>
            <a:picLocks noChangeAspect="1"/>
          </p:cNvPicPr>
          <p:nvPr/>
        </p:nvPicPr>
        <p:blipFill>
          <a:blip r:embed="rId2"/>
          <a:stretch>
            <a:fillRect/>
          </a:stretch>
        </p:blipFill>
        <p:spPr>
          <a:xfrm>
            <a:off x="8521469" y="3184740"/>
            <a:ext cx="2024908" cy="1960111"/>
          </a:xfrm>
          <a:prstGeom prst="rect">
            <a:avLst/>
          </a:prstGeom>
        </p:spPr>
      </p:pic>
    </p:spTree>
    <p:extLst>
      <p:ext uri="{BB962C8B-B14F-4D97-AF65-F5344CB8AC3E}">
        <p14:creationId xmlns:p14="http://schemas.microsoft.com/office/powerpoint/2010/main" val="1546112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96C049-BDB8-0F74-7E2A-81E2ADD4EC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DF02C7-0464-A52C-4206-1D7575BC2C55}"/>
              </a:ext>
            </a:extLst>
          </p:cNvPr>
          <p:cNvSpPr>
            <a:spLocks noGrp="1"/>
          </p:cNvSpPr>
          <p:nvPr>
            <p:ph type="title"/>
          </p:nvPr>
        </p:nvSpPr>
        <p:spPr>
          <a:xfrm>
            <a:off x="1509279" y="307417"/>
            <a:ext cx="10066122" cy="1298448"/>
          </a:xfrm>
        </p:spPr>
        <p:txBody>
          <a:bodyPr anchor="b">
            <a:normAutofit/>
          </a:bodyPr>
          <a:lstStyle/>
          <a:p>
            <a:r>
              <a:rPr lang="es-MX" sz="4800" dirty="0"/>
              <a:t>Pregunta de análisis 3</a:t>
            </a:r>
            <a:endParaRPr lang="es-EC" sz="4800" dirty="0"/>
          </a:p>
        </p:txBody>
      </p:sp>
      <p:sp>
        <p:nvSpPr>
          <p:cNvPr id="3" name="Marcador de contenido 2">
            <a:extLst>
              <a:ext uri="{FF2B5EF4-FFF2-40B4-BE49-F238E27FC236}">
                <a16:creationId xmlns:a16="http://schemas.microsoft.com/office/drawing/2014/main" id="{A4A25B82-D45C-486A-94FE-954FC93270A5}"/>
              </a:ext>
            </a:extLst>
          </p:cNvPr>
          <p:cNvSpPr>
            <a:spLocks noGrp="1"/>
          </p:cNvSpPr>
          <p:nvPr>
            <p:ph idx="1"/>
          </p:nvPr>
        </p:nvSpPr>
        <p:spPr>
          <a:xfrm>
            <a:off x="1509278" y="2519996"/>
            <a:ext cx="4530898" cy="3639450"/>
          </a:xfrm>
        </p:spPr>
        <p:txBody>
          <a:bodyPr anchor="ctr">
            <a:normAutofit/>
          </a:bodyPr>
          <a:lstStyle/>
          <a:p>
            <a:pPr marL="0" indent="0">
              <a:buNone/>
            </a:pPr>
            <a:r>
              <a:rPr lang="es-MX" sz="2000" b="1" dirty="0"/>
              <a:t>¿Qué ubicaciones tienen mayor eficiencia en la separación de residuos reciclables?</a:t>
            </a:r>
            <a:endParaRPr lang="es-EC" sz="2000" dirty="0"/>
          </a:p>
          <a:p>
            <a:pPr marL="0" indent="0">
              <a:buNone/>
            </a:pPr>
            <a:r>
              <a:rPr lang="es-EC" sz="2000" dirty="0"/>
              <a:t>En general todas la ubicaciones tienen un buen porcentaje de separación de residuos recolectados reciclables.</a:t>
            </a:r>
          </a:p>
        </p:txBody>
      </p:sp>
      <p:pic>
        <p:nvPicPr>
          <p:cNvPr id="6" name="Imagen 5">
            <a:extLst>
              <a:ext uri="{FF2B5EF4-FFF2-40B4-BE49-F238E27FC236}">
                <a16:creationId xmlns:a16="http://schemas.microsoft.com/office/drawing/2014/main" id="{34CBEB48-A8C2-33BA-CED9-B4D63038454F}"/>
              </a:ext>
            </a:extLst>
          </p:cNvPr>
          <p:cNvPicPr>
            <a:picLocks noChangeAspect="1"/>
          </p:cNvPicPr>
          <p:nvPr/>
        </p:nvPicPr>
        <p:blipFill>
          <a:blip r:embed="rId2"/>
          <a:stretch>
            <a:fillRect/>
          </a:stretch>
        </p:blipFill>
        <p:spPr>
          <a:xfrm>
            <a:off x="6811617" y="2700555"/>
            <a:ext cx="3720642" cy="2643613"/>
          </a:xfrm>
          <a:prstGeom prst="rect">
            <a:avLst/>
          </a:prstGeom>
        </p:spPr>
      </p:pic>
    </p:spTree>
    <p:extLst>
      <p:ext uri="{BB962C8B-B14F-4D97-AF65-F5344CB8AC3E}">
        <p14:creationId xmlns:p14="http://schemas.microsoft.com/office/powerpoint/2010/main" val="1903555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F34CF0-B67C-0733-BAA9-53828E192AEF}"/>
              </a:ext>
            </a:extLst>
          </p:cNvPr>
          <p:cNvSpPr>
            <a:spLocks noGrp="1"/>
          </p:cNvSpPr>
          <p:nvPr>
            <p:ph type="title"/>
          </p:nvPr>
        </p:nvSpPr>
        <p:spPr>
          <a:xfrm>
            <a:off x="1371600" y="990600"/>
            <a:ext cx="9601200" cy="838200"/>
          </a:xfrm>
        </p:spPr>
        <p:txBody>
          <a:bodyPr/>
          <a:lstStyle/>
          <a:p>
            <a:r>
              <a:rPr lang="es-MX" dirty="0"/>
              <a:t>Patrones</a:t>
            </a:r>
            <a:endParaRPr lang="es-EC" dirty="0"/>
          </a:p>
        </p:txBody>
      </p:sp>
      <p:sp>
        <p:nvSpPr>
          <p:cNvPr id="3" name="Marcador de contenido 2">
            <a:extLst>
              <a:ext uri="{FF2B5EF4-FFF2-40B4-BE49-F238E27FC236}">
                <a16:creationId xmlns:a16="http://schemas.microsoft.com/office/drawing/2014/main" id="{3B1AB43E-3C60-1506-62CF-3CC3F28BC8DC}"/>
              </a:ext>
            </a:extLst>
          </p:cNvPr>
          <p:cNvSpPr>
            <a:spLocks noGrp="1"/>
          </p:cNvSpPr>
          <p:nvPr>
            <p:ph idx="1"/>
          </p:nvPr>
        </p:nvSpPr>
        <p:spPr/>
        <p:txBody>
          <a:bodyPr/>
          <a:lstStyle/>
          <a:p>
            <a:r>
              <a:rPr lang="es-MX" dirty="0"/>
              <a:t>Tipos de residuos dominantes: Los residuos orgánicos de cocina representan los volúmenes más altos recolectados, seguidos de plásticos y vidrio. Esto refleja un patrón consistente en urbanizaciones residenciales con alta densidad de viviendas.</a:t>
            </a:r>
          </a:p>
          <a:p>
            <a:r>
              <a:rPr lang="es-MX" dirty="0"/>
              <a:t>Días de mayor generación: La acumulación de residuos es más alta a mitad y final de semana (ej. martes y viernes), lo que coincide con patrones de consumo y hábitos domésticos.</a:t>
            </a:r>
          </a:p>
          <a:p>
            <a:r>
              <a:rPr lang="es-MX" dirty="0"/>
              <a:t>Separación en origen: Los registros muestran una tasa media de separación correcta en torno al 60–70%. Esto indica avances, pero también margen de mejora en educación ambiental.</a:t>
            </a:r>
            <a:endParaRPr lang="es-EC" dirty="0"/>
          </a:p>
        </p:txBody>
      </p:sp>
    </p:spTree>
    <p:extLst>
      <p:ext uri="{BB962C8B-B14F-4D97-AF65-F5344CB8AC3E}">
        <p14:creationId xmlns:p14="http://schemas.microsoft.com/office/powerpoint/2010/main" val="2454396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89B69C-12F1-60A0-8320-357919F13F91}"/>
              </a:ext>
            </a:extLst>
          </p:cNvPr>
          <p:cNvSpPr>
            <a:spLocks noGrp="1"/>
          </p:cNvSpPr>
          <p:nvPr>
            <p:ph type="title"/>
          </p:nvPr>
        </p:nvSpPr>
        <p:spPr/>
        <p:txBody>
          <a:bodyPr/>
          <a:lstStyle/>
          <a:p>
            <a:r>
              <a:rPr lang="es-MX" dirty="0"/>
              <a:t>Áreas de optimización</a:t>
            </a:r>
            <a:endParaRPr lang="es-EC" dirty="0"/>
          </a:p>
        </p:txBody>
      </p:sp>
      <p:sp>
        <p:nvSpPr>
          <p:cNvPr id="3" name="Marcador de contenido 2">
            <a:extLst>
              <a:ext uri="{FF2B5EF4-FFF2-40B4-BE49-F238E27FC236}">
                <a16:creationId xmlns:a16="http://schemas.microsoft.com/office/drawing/2014/main" id="{7CF1D0BF-7D46-667C-3C0A-D957E73710E0}"/>
              </a:ext>
            </a:extLst>
          </p:cNvPr>
          <p:cNvSpPr>
            <a:spLocks noGrp="1"/>
          </p:cNvSpPr>
          <p:nvPr>
            <p:ph idx="1"/>
          </p:nvPr>
        </p:nvSpPr>
        <p:spPr/>
        <p:txBody>
          <a:bodyPr/>
          <a:lstStyle/>
          <a:p>
            <a:r>
              <a:rPr lang="es-MX" dirty="0"/>
              <a:t>Priorizar vehículos de mayor eficiencia en zonas de alto volumen.</a:t>
            </a:r>
          </a:p>
          <a:p>
            <a:r>
              <a:rPr lang="es-MX" dirty="0"/>
              <a:t>Mejoras en la separación de residuos</a:t>
            </a:r>
          </a:p>
          <a:p>
            <a:r>
              <a:rPr lang="es-MX" dirty="0"/>
              <a:t>Implementar reportes comparativos por ubicación para fomentar la competencia positiva entre comunidades.</a:t>
            </a:r>
            <a:endParaRPr lang="es-EC" dirty="0"/>
          </a:p>
        </p:txBody>
      </p:sp>
    </p:spTree>
    <p:extLst>
      <p:ext uri="{BB962C8B-B14F-4D97-AF65-F5344CB8AC3E}">
        <p14:creationId xmlns:p14="http://schemas.microsoft.com/office/powerpoint/2010/main" val="542498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563453-0A29-49C3-A350-AAEC618794D8}"/>
              </a:ext>
            </a:extLst>
          </p:cNvPr>
          <p:cNvSpPr>
            <a:spLocks noGrp="1"/>
          </p:cNvSpPr>
          <p:nvPr>
            <p:ph type="title"/>
          </p:nvPr>
        </p:nvSpPr>
        <p:spPr/>
        <p:txBody>
          <a:bodyPr/>
          <a:lstStyle/>
          <a:p>
            <a:r>
              <a:rPr lang="es-MX" dirty="0"/>
              <a:t>Optimización de </a:t>
            </a:r>
            <a:r>
              <a:rPr lang="es-MX" dirty="0" err="1"/>
              <a:t>queries</a:t>
            </a:r>
            <a:endParaRPr lang="es-EC" dirty="0"/>
          </a:p>
        </p:txBody>
      </p:sp>
      <p:sp>
        <p:nvSpPr>
          <p:cNvPr id="3" name="Marcador de contenido 2">
            <a:extLst>
              <a:ext uri="{FF2B5EF4-FFF2-40B4-BE49-F238E27FC236}">
                <a16:creationId xmlns:a16="http://schemas.microsoft.com/office/drawing/2014/main" id="{1F53BE7D-0637-4EA7-AF2E-19D626108FB8}"/>
              </a:ext>
            </a:extLst>
          </p:cNvPr>
          <p:cNvSpPr>
            <a:spLocks noGrp="1"/>
          </p:cNvSpPr>
          <p:nvPr>
            <p:ph idx="1"/>
          </p:nvPr>
        </p:nvSpPr>
        <p:spPr/>
        <p:txBody>
          <a:bodyPr>
            <a:normAutofit fontScale="62500" lnSpcReduction="20000"/>
          </a:bodyPr>
          <a:lstStyle/>
          <a:p>
            <a:pPr marL="0" indent="0">
              <a:buNone/>
            </a:pPr>
            <a:r>
              <a:rPr lang="es-MX" dirty="0"/>
              <a:t>El campo que se tomará en cuenta para este análisis es </a:t>
            </a:r>
            <a:r>
              <a:rPr lang="es-MX" dirty="0" err="1"/>
              <a:t>type</a:t>
            </a:r>
            <a:r>
              <a:rPr lang="es-MX" dirty="0"/>
              <a:t> debido a que </a:t>
            </a:r>
            <a:r>
              <a:rPr lang="es-EC" dirty="0"/>
              <a:t>Muestra cómo MySQL accede a la tabla.</a:t>
            </a:r>
          </a:p>
          <a:p>
            <a:pPr marL="0" indent="0">
              <a:buNone/>
            </a:pPr>
            <a:br>
              <a:rPr lang="es-EC" sz="1800" kern="100" dirty="0">
                <a:effectLst/>
                <a:latin typeface="Aptos" panose="02110004020202020204"/>
                <a:ea typeface="Aptos" panose="02110004020202020204"/>
                <a:cs typeface="Times New Roman" panose="02020603050405020304" pitchFamily="18" charset="0"/>
              </a:rPr>
            </a:br>
            <a:r>
              <a:rPr lang="es-EC" sz="1800" kern="100" dirty="0">
                <a:effectLst/>
                <a:latin typeface="Aptos" panose="02110004020202020204"/>
                <a:ea typeface="Aptos" panose="02110004020202020204"/>
                <a:cs typeface="Times New Roman" panose="02020603050405020304" pitchFamily="18" charset="0"/>
              </a:rPr>
              <a:t>De mejor a peor rendimiento:</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system</a:t>
            </a:r>
            <a:r>
              <a:rPr lang="es-EC" sz="1800" kern="100" dirty="0">
                <a:effectLst/>
                <a:latin typeface="Aptos" panose="02110004020202020204"/>
                <a:ea typeface="Aptos" panose="02110004020202020204"/>
                <a:cs typeface="Times New Roman" panose="02020603050405020304" pitchFamily="18" charset="0"/>
              </a:rPr>
              <a:t> → tabla con 1 fila.</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const</a:t>
            </a:r>
            <a:r>
              <a:rPr lang="es-EC" sz="1800" kern="100" dirty="0">
                <a:effectLst/>
                <a:latin typeface="Aptos" panose="02110004020202020204"/>
                <a:ea typeface="Aptos" panose="02110004020202020204"/>
                <a:cs typeface="Times New Roman" panose="02020603050405020304" pitchFamily="18" charset="0"/>
              </a:rPr>
              <a:t> → se usa clave primaria con valor único (muy rápido).</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eq_ref</a:t>
            </a:r>
            <a:r>
              <a:rPr lang="es-EC" sz="1800" kern="100" dirty="0">
                <a:effectLst/>
                <a:latin typeface="Aptos" panose="02110004020202020204"/>
                <a:ea typeface="Aptos" panose="02110004020202020204"/>
                <a:cs typeface="Times New Roman" panose="02020603050405020304" pitchFamily="18" charset="0"/>
              </a:rPr>
              <a:t> → </a:t>
            </a:r>
            <a:r>
              <a:rPr lang="es-EC" sz="1800" kern="100" dirty="0" err="1">
                <a:effectLst/>
                <a:latin typeface="Aptos" panose="02110004020202020204"/>
                <a:ea typeface="Aptos" panose="02110004020202020204"/>
                <a:cs typeface="Times New Roman" panose="02020603050405020304" pitchFamily="18" charset="0"/>
              </a:rPr>
              <a:t>join</a:t>
            </a:r>
            <a:r>
              <a:rPr lang="es-EC" sz="1800" kern="100" dirty="0">
                <a:effectLst/>
                <a:latin typeface="Aptos" panose="02110004020202020204"/>
                <a:ea typeface="Aptos" panose="02110004020202020204"/>
                <a:cs typeface="Times New Roman" panose="02020603050405020304" pitchFamily="18" charset="0"/>
              </a:rPr>
              <a:t> con clave única.</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ref</a:t>
            </a:r>
            <a:r>
              <a:rPr lang="es-EC" sz="1800" kern="100" dirty="0">
                <a:effectLst/>
                <a:latin typeface="Aptos" panose="02110004020202020204"/>
                <a:ea typeface="Aptos" panose="02110004020202020204"/>
                <a:cs typeface="Times New Roman" panose="02020603050405020304" pitchFamily="18" charset="0"/>
              </a:rPr>
              <a:t> → se usa índice no único.</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range</a:t>
            </a:r>
            <a:r>
              <a:rPr lang="es-EC" sz="1800" kern="100" dirty="0">
                <a:effectLst/>
                <a:latin typeface="Aptos" panose="02110004020202020204"/>
                <a:ea typeface="Aptos" panose="02110004020202020204"/>
                <a:cs typeface="Times New Roman" panose="02020603050405020304" pitchFamily="18" charset="0"/>
              </a:rPr>
              <a:t> → usa un rango de índice (BETWEEN, &gt;, etc.).</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err="1">
                <a:effectLst/>
                <a:latin typeface="Aptos" panose="02110004020202020204"/>
                <a:ea typeface="Aptos" panose="02110004020202020204"/>
                <a:cs typeface="Times New Roman" panose="02020603050405020304" pitchFamily="18" charset="0"/>
              </a:rPr>
              <a:t>index</a:t>
            </a:r>
            <a:r>
              <a:rPr lang="es-EC" sz="1800" kern="100" dirty="0">
                <a:effectLst/>
                <a:latin typeface="Aptos" panose="02110004020202020204"/>
                <a:ea typeface="Aptos" panose="02110004020202020204"/>
                <a:cs typeface="Times New Roman" panose="02020603050405020304" pitchFamily="18" charset="0"/>
              </a:rPr>
              <a:t> → escanea todo el índice.</a:t>
            </a:r>
          </a:p>
          <a:p>
            <a:pPr marL="342900" lvl="0" indent="-342900">
              <a:lnSpc>
                <a:spcPct val="115000"/>
              </a:lnSpc>
              <a:spcAft>
                <a:spcPts val="800"/>
              </a:spcAft>
              <a:buSzPts val="1000"/>
              <a:buFont typeface="Symbol" panose="05050102010706020507" pitchFamily="18" charset="2"/>
              <a:buChar char=""/>
              <a:tabLst>
                <a:tab pos="457200" algn="l"/>
              </a:tabLst>
            </a:pPr>
            <a:r>
              <a:rPr lang="es-EC" sz="1800" kern="100" dirty="0">
                <a:effectLst/>
                <a:latin typeface="Aptos" panose="02110004020202020204"/>
                <a:ea typeface="Aptos" panose="02110004020202020204"/>
                <a:cs typeface="Times New Roman" panose="02020603050405020304" pitchFamily="18" charset="0"/>
              </a:rPr>
              <a:t>ALL → escaneo completo de tabla (</a:t>
            </a:r>
            <a:r>
              <a:rPr lang="es-EC" sz="1800" i="1" kern="100" dirty="0">
                <a:effectLst/>
                <a:latin typeface="Aptos" panose="02110004020202020204"/>
                <a:ea typeface="Aptos" panose="02110004020202020204"/>
                <a:cs typeface="Times New Roman" panose="02020603050405020304" pitchFamily="18" charset="0"/>
              </a:rPr>
              <a:t>full table </a:t>
            </a:r>
            <a:r>
              <a:rPr lang="es-EC" sz="1800" i="1" kern="100" dirty="0" err="1">
                <a:effectLst/>
                <a:latin typeface="Aptos" panose="02110004020202020204"/>
                <a:ea typeface="Aptos" panose="02110004020202020204"/>
                <a:cs typeface="Times New Roman" panose="02020603050405020304" pitchFamily="18" charset="0"/>
              </a:rPr>
              <a:t>scan</a:t>
            </a:r>
            <a:r>
              <a:rPr lang="es-EC" sz="1800" kern="100" dirty="0">
                <a:effectLst/>
                <a:latin typeface="Aptos" panose="02110004020202020204"/>
                <a:ea typeface="Aptos" panose="02110004020202020204"/>
                <a:cs typeface="Times New Roman" panose="02020603050405020304" pitchFamily="18" charset="0"/>
              </a:rPr>
              <a:t>, el peor).</a:t>
            </a:r>
          </a:p>
          <a:p>
            <a:pPr marL="0" indent="0">
              <a:buNone/>
            </a:pPr>
            <a:endParaRPr lang="es-EC" dirty="0"/>
          </a:p>
        </p:txBody>
      </p:sp>
    </p:spTree>
    <p:extLst>
      <p:ext uri="{BB962C8B-B14F-4D97-AF65-F5344CB8AC3E}">
        <p14:creationId xmlns:p14="http://schemas.microsoft.com/office/powerpoint/2010/main" val="2718433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C32244-096A-7905-6FF4-6D1FF7FA7039}"/>
              </a:ext>
            </a:extLst>
          </p:cNvPr>
          <p:cNvSpPr>
            <a:spLocks noGrp="1"/>
          </p:cNvSpPr>
          <p:nvPr>
            <p:ph type="title"/>
          </p:nvPr>
        </p:nvSpPr>
        <p:spPr/>
        <p:txBody>
          <a:bodyPr/>
          <a:lstStyle/>
          <a:p>
            <a:r>
              <a:rPr lang="es-MX" dirty="0"/>
              <a:t>Creación de índices para la optimización de consultas</a:t>
            </a:r>
            <a:endParaRPr lang="es-EC" dirty="0"/>
          </a:p>
        </p:txBody>
      </p:sp>
      <p:sp>
        <p:nvSpPr>
          <p:cNvPr id="3" name="Marcador de contenido 2">
            <a:extLst>
              <a:ext uri="{FF2B5EF4-FFF2-40B4-BE49-F238E27FC236}">
                <a16:creationId xmlns:a16="http://schemas.microsoft.com/office/drawing/2014/main" id="{B60BAF6B-368D-9488-319F-A38B3F63F5AC}"/>
              </a:ext>
            </a:extLst>
          </p:cNvPr>
          <p:cNvSpPr>
            <a:spLocks noGrp="1"/>
          </p:cNvSpPr>
          <p:nvPr>
            <p:ph idx="1"/>
          </p:nvPr>
        </p:nvSpPr>
        <p:spPr/>
        <p:txBody>
          <a:bodyPr>
            <a:normAutofit fontScale="25000" lnSpcReduction="20000"/>
          </a:bodyPr>
          <a:lstStyle/>
          <a:p>
            <a:pPr marL="0" indent="0">
              <a:buNone/>
            </a:pPr>
            <a:r>
              <a:rPr lang="es-MX" dirty="0"/>
              <a:t>-- 1. Acelerar filtros por categoría de residuo (Reciclable, Orgánico, etc.)</a:t>
            </a:r>
          </a:p>
          <a:p>
            <a:pPr marL="0" indent="0">
              <a:buNone/>
            </a:pPr>
            <a:r>
              <a:rPr lang="es-MX" dirty="0"/>
              <a:t>CREATE INDEX </a:t>
            </a:r>
            <a:r>
              <a:rPr lang="es-MX" dirty="0" err="1"/>
              <a:t>idx_tipos_residuo_categoria</a:t>
            </a:r>
            <a:endParaRPr lang="es-MX" dirty="0"/>
          </a:p>
          <a:p>
            <a:pPr marL="0" indent="0">
              <a:buNone/>
            </a:pPr>
            <a:r>
              <a:rPr lang="es-MX" dirty="0"/>
              <a:t>    ON </a:t>
            </a:r>
            <a:r>
              <a:rPr lang="es-MX" dirty="0" err="1"/>
              <a:t>tipos_residuo</a:t>
            </a:r>
            <a:r>
              <a:rPr lang="es-MX" dirty="0"/>
              <a:t> (</a:t>
            </a:r>
            <a:r>
              <a:rPr lang="es-MX" dirty="0" err="1"/>
              <a:t>categoria</a:t>
            </a:r>
            <a:r>
              <a:rPr lang="es-MX" dirty="0"/>
              <a:t>, </a:t>
            </a:r>
            <a:r>
              <a:rPr lang="es-MX" dirty="0" err="1"/>
              <a:t>id_tipo_residuo</a:t>
            </a:r>
            <a:r>
              <a:rPr lang="es-MX" dirty="0"/>
              <a:t>);</a:t>
            </a:r>
          </a:p>
          <a:p>
            <a:pPr marL="0" indent="0">
              <a:buNone/>
            </a:pPr>
            <a:endParaRPr lang="es-MX" dirty="0"/>
          </a:p>
          <a:p>
            <a:pPr marL="0" indent="0">
              <a:buNone/>
            </a:pPr>
            <a:r>
              <a:rPr lang="es-MX" dirty="0"/>
              <a:t>-- 2. Optimizar los JOIN entre residuos ↔ recolecciones ↔ ubicaciones</a:t>
            </a:r>
          </a:p>
          <a:p>
            <a:pPr marL="0" indent="0">
              <a:buNone/>
            </a:pPr>
            <a:r>
              <a:rPr lang="es-MX" dirty="0"/>
              <a:t>CREATE INDEX </a:t>
            </a:r>
            <a:r>
              <a:rPr lang="es-MX" dirty="0" err="1"/>
              <a:t>idx_residuos_recolectados_recoleccion</a:t>
            </a:r>
            <a:endParaRPr lang="es-MX" dirty="0"/>
          </a:p>
          <a:p>
            <a:pPr marL="0" indent="0">
              <a:buNone/>
            </a:pPr>
            <a:r>
              <a:rPr lang="es-MX" dirty="0"/>
              <a:t>    ON </a:t>
            </a:r>
            <a:r>
              <a:rPr lang="es-MX" dirty="0" err="1"/>
              <a:t>residuos_recolectados</a:t>
            </a:r>
            <a:r>
              <a:rPr lang="es-MX" dirty="0"/>
              <a:t> (</a:t>
            </a:r>
            <a:r>
              <a:rPr lang="es-MX" dirty="0" err="1"/>
              <a:t>id_recoleccion</a:t>
            </a:r>
            <a:r>
              <a:rPr lang="es-MX" dirty="0"/>
              <a:t>, </a:t>
            </a:r>
            <a:r>
              <a:rPr lang="es-MX" dirty="0" err="1"/>
              <a:t>id_tipo_residuo</a:t>
            </a:r>
            <a:r>
              <a:rPr lang="es-MX" dirty="0"/>
              <a:t>, </a:t>
            </a:r>
            <a:r>
              <a:rPr lang="es-MX" dirty="0" err="1"/>
              <a:t>separado_correctamente</a:t>
            </a:r>
            <a:r>
              <a:rPr lang="es-MX" dirty="0"/>
              <a:t>);</a:t>
            </a:r>
          </a:p>
          <a:p>
            <a:pPr marL="0" indent="0">
              <a:buNone/>
            </a:pPr>
            <a:endParaRPr lang="es-MX" dirty="0"/>
          </a:p>
          <a:p>
            <a:pPr marL="0" indent="0">
              <a:buNone/>
            </a:pPr>
            <a:r>
              <a:rPr lang="es-MX" dirty="0"/>
              <a:t>CREATE INDEX </a:t>
            </a:r>
            <a:r>
              <a:rPr lang="es-MX" dirty="0" err="1"/>
              <a:t>idx_recolecciones_ubicacion</a:t>
            </a:r>
            <a:endParaRPr lang="es-MX" dirty="0"/>
          </a:p>
          <a:p>
            <a:pPr marL="0" indent="0">
              <a:buNone/>
            </a:pPr>
            <a:r>
              <a:rPr lang="es-MX" dirty="0"/>
              <a:t>    ON recolecciones (</a:t>
            </a:r>
            <a:r>
              <a:rPr lang="es-MX" dirty="0" err="1"/>
              <a:t>id_ubicacion</a:t>
            </a:r>
            <a:r>
              <a:rPr lang="es-MX" dirty="0"/>
              <a:t>, fecha);</a:t>
            </a:r>
          </a:p>
          <a:p>
            <a:pPr marL="0" indent="0">
              <a:buNone/>
            </a:pPr>
            <a:endParaRPr lang="es-MX" dirty="0"/>
          </a:p>
          <a:p>
            <a:pPr marL="0" indent="0">
              <a:buNone/>
            </a:pPr>
            <a:r>
              <a:rPr lang="es-MX" dirty="0"/>
              <a:t>-- 3. Acelerar agrupaciones y filtros por ubicación</a:t>
            </a:r>
          </a:p>
          <a:p>
            <a:pPr marL="0" indent="0">
              <a:buNone/>
            </a:pPr>
            <a:r>
              <a:rPr lang="es-MX" dirty="0"/>
              <a:t>CREATE INDEX </a:t>
            </a:r>
            <a:r>
              <a:rPr lang="es-MX" dirty="0" err="1"/>
              <a:t>idx_ubicaciones_nombre</a:t>
            </a:r>
            <a:endParaRPr lang="es-MX" dirty="0"/>
          </a:p>
          <a:p>
            <a:pPr marL="0" indent="0">
              <a:buNone/>
            </a:pPr>
            <a:r>
              <a:rPr lang="es-MX" dirty="0"/>
              <a:t>    ON ubicaciones (nombre);</a:t>
            </a:r>
          </a:p>
          <a:p>
            <a:pPr marL="0" indent="0">
              <a:buNone/>
            </a:pPr>
            <a:endParaRPr lang="es-MX" dirty="0"/>
          </a:p>
          <a:p>
            <a:pPr marL="0" indent="0">
              <a:buNone/>
            </a:pPr>
            <a:r>
              <a:rPr lang="es-MX" dirty="0"/>
              <a:t>-- 4. En caso de analizar tendencias por fecha (series de tiempo)</a:t>
            </a:r>
          </a:p>
          <a:p>
            <a:pPr marL="0" indent="0">
              <a:buNone/>
            </a:pPr>
            <a:r>
              <a:rPr lang="es-MX" dirty="0"/>
              <a:t>CREATE INDEX </a:t>
            </a:r>
            <a:r>
              <a:rPr lang="es-MX" dirty="0" err="1"/>
              <a:t>idx_recolecciones_fecha</a:t>
            </a:r>
            <a:endParaRPr lang="es-MX" dirty="0"/>
          </a:p>
          <a:p>
            <a:pPr marL="0" indent="0">
              <a:buNone/>
            </a:pPr>
            <a:r>
              <a:rPr lang="es-MX" dirty="0"/>
              <a:t>    ON recolecciones (fecha);</a:t>
            </a:r>
          </a:p>
        </p:txBody>
      </p:sp>
    </p:spTree>
    <p:extLst>
      <p:ext uri="{BB962C8B-B14F-4D97-AF65-F5344CB8AC3E}">
        <p14:creationId xmlns:p14="http://schemas.microsoft.com/office/powerpoint/2010/main" val="3063594648"/>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TM10001105[[fn=Recorte]]</Template>
  <TotalTime>210</TotalTime>
  <Words>492</Words>
  <Application>Microsoft Office PowerPoint</Application>
  <PresentationFormat>Panorámica</PresentationFormat>
  <Paragraphs>58</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Franklin Gothic Book</vt:lpstr>
      <vt:lpstr>Symbol</vt:lpstr>
      <vt:lpstr>Times New Roman</vt:lpstr>
      <vt:lpstr>Recorte</vt:lpstr>
      <vt:lpstr>Grupo 3 Gestión de residuos en urbanizaciones cerradas</vt:lpstr>
      <vt:lpstr>Modelo relacional</vt:lpstr>
      <vt:lpstr>Pregunta de análisis 1</vt:lpstr>
      <vt:lpstr>Pregunta de análisis 1(complemento)</vt:lpstr>
      <vt:lpstr>Pregunta de análisis 2</vt:lpstr>
      <vt:lpstr>Pregunta de análisis 3</vt:lpstr>
      <vt:lpstr>Patrones</vt:lpstr>
      <vt:lpstr>Áreas de optimización</vt:lpstr>
      <vt:lpstr>Optimización de queries</vt:lpstr>
      <vt:lpstr>Creación de índices para la optimización de consultas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Grupo 3</dc:title>
  <dc:creator>ANGELICA MARIA MACIAS URGILES</dc:creator>
  <cp:lastModifiedBy>HOGAR</cp:lastModifiedBy>
  <cp:revision>13</cp:revision>
  <dcterms:created xsi:type="dcterms:W3CDTF">2025-09-20T04:59:57Z</dcterms:created>
  <dcterms:modified xsi:type="dcterms:W3CDTF">2025-09-20T21:12:46Z</dcterms:modified>
</cp:coreProperties>
</file>